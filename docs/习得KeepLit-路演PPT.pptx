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id="2147483649" r:id="rId20"/>
  </p:notesMasterIdLst>
  <p:sldSz cx="12192000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按竞赛 5 项要求组织：背景价值、创新性、数据集、关键代码、可量化效果；第 16 页补华为云 CodeArts 证据，第 17 页补 Web + 鸿蒙双端。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对应要求一：背景与价值。三个问题在真实场景里同时存在且彼此无关，价值就是收到同一条链上。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两端共用一套工作流引擎；AI 是增强层，不是前提。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页面对应 templates/ 下 17 个模版；AI 设置、鸿蒙端是 10-24 版本新增。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室外导航已接高德 JS API；未配 Key 或加载失败时自动回退方向示意图（设计好的降级，不是 bug）。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卡点写入场次；反馈写入 contents.helpful/unhelpful，参与下一次匹配。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40/25/20/15 来自 services/content.py；反馈系数 0.85+0.30×feedback，样本少时向 0.5 收敛。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初筛是规则代理 + 可插拔适配器，不是全自动判定。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一屏完成：不用跨页面比对视频与帧。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flow_defs 返回五条流的节点与边，编排页据此画图并可回放。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界面来自 docs/screenshots/03-review.png（10-24 新版视觉）。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对应要求二：创新性。AI 用在“判断链”上：初筛挑帧、重排候选、辅导追问，人保留拍板权。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对应要求三：数据集选取与处理。seed 为演示数据，现场操作产生的是真实数据。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对应要求四：关键代码片段。逐行解释见设计说明书第 9 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对应要求五：可量化效果。87 passed 为本机 2026-10-24 实测，与仓库证据一致。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五环节证据来自 CodeArts 本地 Agent Kernel（会话 b5d0be33…）；部署环节只做了 Dockerfile 检查，本机无 Docker，不声称已上线。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Web 是评委打开的桌面作品；鸿蒙是校园现场用的移动端，不是把 Web 改成手机版。四张截图来自 docs/screenshots/12-15。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本地启动：python seed.py --reset &amp;&amp; python app.py，端口 5820；鸿蒙端配置见《鸿蒙端模拟器配置》说明。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342900" indent="-342900">
        <a:defRPr sz="2000">
          <a:solidFill>
            <a:srgbClr val="1F2A3A"/>
          </a:solidFill>
          <a:latin typeface="Microsoft YaHei"/>
          <a:ea typeface="Microsoft YaHei"/>
        </a:defRPr>
      </a:lvl1pPr>
      <a:lvl2pPr marL="685800" indent="-342900">
        <a:defRPr sz="1900">
          <a:solidFill>
            <a:srgbClr val="1F2A3A"/>
          </a:solidFill>
          <a:latin typeface="Microsoft YaHei"/>
          <a:ea typeface="Microsoft YaHei"/>
        </a:defRPr>
      </a:lvl2pPr>
      <a:lvl3pPr marL="1028700" indent="-342900">
        <a:defRPr sz="1800">
          <a:solidFill>
            <a:srgbClr val="1F2A3A"/>
          </a:solidFill>
          <a:latin typeface="Microsoft YaHei"/>
          <a:ea typeface="Microsoft YaHei"/>
        </a:defRPr>
      </a:lvl3pPr>
      <a:lvl4pPr marL="1371600" indent="-342900">
        <a:defRPr sz="1700">
          <a:solidFill>
            <a:srgbClr val="1F2A3A"/>
          </a:solidFill>
          <a:latin typeface="Microsoft YaHei"/>
          <a:ea typeface="Microsoft YaHei"/>
        </a:defRPr>
      </a:lvl4pPr>
      <a:lvl5pPr marL="1714500" indent="-342900">
        <a:defRPr sz="1600">
          <a:solidFill>
            <a:srgbClr val="1F2A3A"/>
          </a:solidFill>
          <a:latin typeface="Microsoft YaHei"/>
          <a:ea typeface="Microsoft YaHei"/>
        </a:defRPr>
      </a:lvl5pPr>
      <a:lvl6pPr marL="2057400" indent="-342900">
        <a:defRPr sz="1500">
          <a:solidFill>
            <a:srgbClr val="1F2A3A"/>
          </a:solidFill>
          <a:latin typeface="Microsoft YaHei"/>
          <a:ea typeface="Microsoft YaHei"/>
        </a:defRPr>
      </a:lvl6pPr>
      <a:lvl7pPr marL="2400300" indent="-342900">
        <a:defRPr sz="1400">
          <a:solidFill>
            <a:srgbClr val="1F2A3A"/>
          </a:solidFill>
          <a:latin typeface="Microsoft YaHei"/>
          <a:ea typeface="Microsoft YaHei"/>
        </a:defRPr>
      </a:lvl7pPr>
      <a:lvl8pPr marL="2743200" indent="-342900">
        <a:defRPr sz="1300">
          <a:solidFill>
            <a:srgbClr val="1F2A3A"/>
          </a:solidFill>
          <a:latin typeface="Microsoft YaHei"/>
          <a:ea typeface="Microsoft YaHei"/>
        </a:defRPr>
      </a:lvl8pPr>
      <a:lvl9pPr marL="3086100" indent="-342900">
        <a:defRPr sz="1200">
          <a:solidFill>
            <a:srgbClr val="1F2A3A"/>
          </a:solidFill>
          <a:latin typeface="Microsoft YaHei"/>
          <a:ea typeface="Microsoft YaHei"/>
        </a:defRPr>
      </a:lvl9pPr>
    </p:titleStyle>
    <p:bodyStyle>
      <a:lvl1pPr marL="342900" indent="-342900">
        <a:defRPr sz="2000">
          <a:solidFill>
            <a:srgbClr val="1F2A3A"/>
          </a:solidFill>
          <a:latin typeface="Microsoft YaHei"/>
          <a:ea typeface="Microsoft YaHei"/>
        </a:defRPr>
      </a:lvl1pPr>
      <a:lvl2pPr marL="685800" indent="-342900">
        <a:defRPr sz="1900">
          <a:solidFill>
            <a:srgbClr val="1F2A3A"/>
          </a:solidFill>
          <a:latin typeface="Microsoft YaHei"/>
          <a:ea typeface="Microsoft YaHei"/>
        </a:defRPr>
      </a:lvl2pPr>
      <a:lvl3pPr marL="1028700" indent="-342900">
        <a:defRPr sz="1800">
          <a:solidFill>
            <a:srgbClr val="1F2A3A"/>
          </a:solidFill>
          <a:latin typeface="Microsoft YaHei"/>
          <a:ea typeface="Microsoft YaHei"/>
        </a:defRPr>
      </a:lvl3pPr>
      <a:lvl4pPr marL="1371600" indent="-342900">
        <a:defRPr sz="1700">
          <a:solidFill>
            <a:srgbClr val="1F2A3A"/>
          </a:solidFill>
          <a:latin typeface="Microsoft YaHei"/>
          <a:ea typeface="Microsoft YaHei"/>
        </a:defRPr>
      </a:lvl4pPr>
      <a:lvl5pPr marL="1714500" indent="-342900">
        <a:defRPr sz="1600">
          <a:solidFill>
            <a:srgbClr val="1F2A3A"/>
          </a:solidFill>
          <a:latin typeface="Microsoft YaHei"/>
          <a:ea typeface="Microsoft YaHei"/>
        </a:defRPr>
      </a:lvl5pPr>
      <a:lvl6pPr marL="2057400" indent="-342900">
        <a:defRPr sz="1500">
          <a:solidFill>
            <a:srgbClr val="1F2A3A"/>
          </a:solidFill>
          <a:latin typeface="Microsoft YaHei"/>
          <a:ea typeface="Microsoft YaHei"/>
        </a:defRPr>
      </a:lvl6pPr>
      <a:lvl7pPr marL="2400300" indent="-342900">
        <a:defRPr sz="1400">
          <a:solidFill>
            <a:srgbClr val="1F2A3A"/>
          </a:solidFill>
          <a:latin typeface="Microsoft YaHei"/>
          <a:ea typeface="Microsoft YaHei"/>
        </a:defRPr>
      </a:lvl7pPr>
      <a:lvl8pPr marL="2743200" indent="-342900">
        <a:defRPr sz="1300">
          <a:solidFill>
            <a:srgbClr val="1F2A3A"/>
          </a:solidFill>
          <a:latin typeface="Microsoft YaHei"/>
          <a:ea typeface="Microsoft YaHei"/>
        </a:defRPr>
      </a:lvl8pPr>
      <a:lvl9pPr marL="3086100" indent="-342900">
        <a:defRPr sz="1200">
          <a:solidFill>
            <a:srgbClr val="1F2A3A"/>
          </a:solidFill>
          <a:latin typeface="Microsoft YaHei"/>
          <a:ea typeface="Microsoft YaHei"/>
        </a:defRPr>
      </a:lvl9pPr>
    </p:bodyStyle>
    <p:otherStyle>
      <a:lvl1pPr marL="342900" indent="-342900">
        <a:defRPr sz="2000">
          <a:solidFill>
            <a:srgbClr val="1F2A3A"/>
          </a:solidFill>
          <a:latin typeface="Microsoft YaHei"/>
          <a:ea typeface="Microsoft YaHei"/>
        </a:defRPr>
      </a:lvl1pPr>
      <a:lvl2pPr marL="685800" indent="-342900">
        <a:defRPr sz="1900">
          <a:solidFill>
            <a:srgbClr val="1F2A3A"/>
          </a:solidFill>
          <a:latin typeface="Microsoft YaHei"/>
          <a:ea typeface="Microsoft YaHei"/>
        </a:defRPr>
      </a:lvl2pPr>
      <a:lvl3pPr marL="1028700" indent="-342900">
        <a:defRPr sz="1800">
          <a:solidFill>
            <a:srgbClr val="1F2A3A"/>
          </a:solidFill>
          <a:latin typeface="Microsoft YaHei"/>
          <a:ea typeface="Microsoft YaHei"/>
        </a:defRPr>
      </a:lvl3pPr>
      <a:lvl4pPr marL="1371600" indent="-342900">
        <a:defRPr sz="1700">
          <a:solidFill>
            <a:srgbClr val="1F2A3A"/>
          </a:solidFill>
          <a:latin typeface="Microsoft YaHei"/>
          <a:ea typeface="Microsoft YaHei"/>
        </a:defRPr>
      </a:lvl4pPr>
      <a:lvl5pPr marL="1714500" indent="-342900">
        <a:defRPr sz="1600">
          <a:solidFill>
            <a:srgbClr val="1F2A3A"/>
          </a:solidFill>
          <a:latin typeface="Microsoft YaHei"/>
          <a:ea typeface="Microsoft YaHei"/>
        </a:defRPr>
      </a:lvl5pPr>
      <a:lvl6pPr marL="2057400" indent="-342900">
        <a:defRPr sz="1500">
          <a:solidFill>
            <a:srgbClr val="1F2A3A"/>
          </a:solidFill>
          <a:latin typeface="Microsoft YaHei"/>
          <a:ea typeface="Microsoft YaHei"/>
        </a:defRPr>
      </a:lvl6pPr>
      <a:lvl7pPr marL="2400300" indent="-342900">
        <a:defRPr sz="1400">
          <a:solidFill>
            <a:srgbClr val="1F2A3A"/>
          </a:solidFill>
          <a:latin typeface="Microsoft YaHei"/>
          <a:ea typeface="Microsoft YaHei"/>
        </a:defRPr>
      </a:lvl7pPr>
      <a:lvl8pPr marL="2743200" indent="-342900">
        <a:defRPr sz="1300">
          <a:solidFill>
            <a:srgbClr val="1F2A3A"/>
          </a:solidFill>
          <a:latin typeface="Microsoft YaHei"/>
          <a:ea typeface="Microsoft YaHei"/>
        </a:defRPr>
      </a:lvl8pPr>
      <a:lvl9pPr marL="3086100" indent="-342900">
        <a:defRPr sz="1200">
          <a:solidFill>
            <a:srgbClr val="1F2A3A"/>
          </a:solidFill>
          <a:latin typeface="Microsoft YaHei"/>
          <a:ea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 bar"/>
          <p:cNvSpPr/>
          <p:nvPr/>
        </p:nvSpPr>
        <p:spPr>
          <a:xfrm>
            <a:off x="914400" y="2250000"/>
            <a:ext cx="240000" cy="16000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1550000" y="2160000"/>
            <a:ext cx="9250000" cy="1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r>
              <a:t>习得 KeepLit · 校园学习空间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1570000" y="4150000"/>
            <a:ext cx="9000000" cy="12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r>
              <a:t>Flask + SQLite + 原生前端 ｜ Web + 鸿蒙双端 ｜ 90 条测试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570000" y="5800000"/>
            <a:ext cx="7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F2A4A"/>
                </a:solidFill>
                <a:latin typeface="Microsoft YaHei"/>
                <a:ea typeface="Microsoft YaHei"/>
              </a:rPr>
              <a:t>华为 ICT 学科竞赛 · 赛道 1 AI 创新应用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01 / 18</a:t>
            </a:r>
          </a:p>
        </p:txBody>
      </p:sp>
      <p:sp>
        <p:nvSpPr>
          <p:cNvPr id="2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背景与价值：三个割裂问题</a:t>
            </a:r>
          </a:p>
        </p:txBody>
      </p:sp>
      <p:sp>
        <p:nvSpPr>
          <p:cNvPr id="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场景：高校图书馆与自习室的日常使用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找座难：不知哪层哪区有空位，释放靠人工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学习与内容脱节：推荐“猜你喜欢”而非“此刻需要”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内容缺审核：全量人审太贵，纯 AI 判定不可信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价值：一次场次串起找座 → 学习 → 内容接力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结果：少找座、学习有接续、内容可合规回流</a:t>
            </a:r>
          </a:p>
        </p:txBody>
      </p:sp>
      <p:sp>
        <p:nvSpPr>
          <p:cNvPr id="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02 / 18</a:t>
            </a:r>
          </a:p>
        </p:txBody>
      </p:sp>
      <p:sp>
        <p:nvSpPr>
          <p:cNvPr id="3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核心链路：一条场次串起两端</a:t>
            </a:r>
          </a:p>
        </p:txBody>
      </p:sp>
      <p:sp>
        <p:nvSpPr>
          <p:cNvPr id="3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需求侧：预约 → 签到 → 计时学习 → 结束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结束 / 到期触发接棒，候选来自规则检索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可选 AI 重排：LLM 排序并校验 id，失败回退规则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只推已过审内容，卡片写清匹配理由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供给侧：交棒 → 抽帧 → AI 初筛 → 人工复核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反馈回流：有帮助 / 没帮助调整下次权重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无模型 Key 时全链路规则兜底</a:t>
            </a:r>
          </a:p>
        </p:txBody>
      </p:sp>
      <p:sp>
        <p:nvSpPr>
          <p:cNvPr id="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03 / 18</a:t>
            </a:r>
          </a:p>
        </p:txBody>
      </p:sp>
      <p:sp>
        <p:nvSpPr>
          <p:cNvPr id="4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功能模块：四端一屏 + 双端</a:t>
            </a:r>
          </a:p>
        </p:txBody>
      </p:sp>
      <p:graphicFrame>
        <p:nvGraphicFramePr>
          <p:cNvPr id="43" name="Table"/>
          <p:cNvGraphicFramePr>
            <a:graphicFrameLocks noGrp="1"/>
          </p:cNvGraphicFramePr>
          <p:nvPr/>
        </p:nvGraphicFramePr>
        <p:xfrm>
          <a:off x="900000" y="1950000"/>
          <a:ext cx="10300000" cy="336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页面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学生端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今日 / 空间 / 导航 / 学习 / 池 / 我的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选座预约、A* 导航、计时、辅导、接棒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内容端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交棒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上传、抽帧、初筛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审核端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审核 / 帧级复核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一屏复核、四项清单、帧级状态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编排端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编排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五条流节点图、运行轨迹、日志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管理端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AI 设置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多供应商、优先级、热生效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移动端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鸿蒙 App（ArkUI）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底部 5 Tab，HAP 已编译未签名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公共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消息 / 室外导航 / 登录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站内信、高德地图 + SVG 兜底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04 / 18</a:t>
            </a:r>
          </a:p>
        </p:txBody>
      </p:sp>
      <p:sp>
        <p:nvSpPr>
          <p:cNvPr id="5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空间：选座、预约与导航</a:t>
            </a:r>
          </a:p>
        </p:txBody>
      </p:sp>
      <p:graphicFrame>
        <p:nvGraphicFramePr>
          <p:cNvPr id="53" name="Table"/>
          <p:cNvGraphicFramePr>
            <a:graphicFrameLocks noGrp="1"/>
          </p:cNvGraphicFramePr>
          <p:nvPr/>
        </p:nvGraphicFramePr>
        <p:xfrm>
          <a:off x="900000" y="1950000"/>
          <a:ext cx="10300000" cy="336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规则与数据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选座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79 座 / 2 建筑 / 3 层（48 + 16 + 15）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两步流程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先选地点（建筑 + 楼层），再选座位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筛选与推荐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全部 / 靠窗 / 安静 / 电源；推荐带理由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预约规则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单次 1–240 分钟；每人同时 1 条；同座不重叠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并发控制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本地锁 + 事务；冲突直接拒绝，不超卖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室内导航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A* 按层路网出路径、距离、时间、分步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室外导航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高德步行路线；失败回退方向示意图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05 / 18</a:t>
            </a:r>
          </a:p>
        </p:txBody>
      </p:sp>
      <p:sp>
        <p:nvSpPr>
          <p:cNvPr id="6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学习与接棒：从场次到推送</a:t>
            </a:r>
          </a:p>
        </p:txBody>
      </p:sp>
      <p:graphicFrame>
        <p:nvGraphicFramePr>
          <p:cNvPr id="63" name="Table"/>
          <p:cNvGraphicFramePr>
            <a:graphicFrameLocks noGrp="1"/>
          </p:cNvGraphicFramePr>
          <p:nvPr/>
        </p:nvGraphicFramePr>
        <p:xfrm>
          <a:off x="900000" y="1950000"/>
          <a:ext cx="10300000" cy="336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规则与数据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签到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创建场次计时；50 分钟专注 + 10 分钟休息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卡住了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苏格拉底提问：极限 / 导数，每个主题 2–3 轮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卡点用途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写入场次上下文，参与接棒匹配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接棒触发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手动结束 / 预约到期，仅限已签到场次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候选范围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只取 approved；四维 base 分排序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AI 重排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可选：LLM 重排并校验 id，失败回退规则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幂等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同一场次只推一次；并发修复后有测试覆盖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06 / 18</a:t>
            </a:r>
          </a:p>
        </p:txBody>
      </p:sp>
      <p:sp>
        <p:nvSpPr>
          <p:cNvPr id="7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匹配打分：四维 base × 反馈系数</a:t>
            </a:r>
          </a:p>
        </p:txBody>
      </p:sp>
      <p:graphicFrame>
        <p:nvGraphicFramePr>
          <p:cNvPr id="73" name="Table"/>
          <p:cNvGraphicFramePr>
            <a:graphicFrameLocks noGrp="1"/>
          </p:cNvGraphicFramePr>
          <p:nvPr/>
        </p:nvGraphicFramePr>
        <p:xfrm>
          <a:off x="900000" y="1950000"/>
          <a:ext cx="10300000" cy="294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计算依据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主题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40%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学科是否命中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知识点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25%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卡点关键词覆盖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时长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3 分钟优先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新鲜度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15%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发布时间越新越高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反馈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×0.85–1.15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0.85 + 0.30 × 反馈分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门槛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低分丢弃；总分 100 封顶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07 / 18</a:t>
            </a:r>
          </a:p>
        </p:txBody>
      </p:sp>
      <p:sp>
        <p:nvSpPr>
          <p:cNvPr id="8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交棒：抽帧与 AI 初筛规则</a:t>
            </a:r>
          </a:p>
        </p:txBody>
      </p:sp>
      <p:sp>
        <p:nvSpPr>
          <p:cNvPr id="8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支持 mp4 / mov / webm，最大 500MB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按时间均匀抽帧，每条最多 12 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初筛维度：红色占比、亮度、对比、模糊、暗部、关键词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风险阈值 0.55，超过标为可疑帧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输出 AI 摘要与风险分，状态转 pending_review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视频缺失 / 不可读时降级为占位帧，不中断上传</a:t>
            </a:r>
          </a:p>
        </p:txBody>
      </p:sp>
      <p:sp>
        <p:nvSpPr>
          <p:cNvPr id="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08 / 18</a:t>
            </a:r>
          </a:p>
        </p:txBody>
      </p:sp>
      <p:sp>
        <p:nvSpPr>
          <p:cNvPr id="9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审核：一屏帧级复核工作台</a:t>
            </a:r>
          </a:p>
        </p:txBody>
      </p:sp>
      <p:sp>
        <p:nvSpPr>
          <p:cNvPr id="9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左：视频预览；中：帧时间轴（可疑帧标红）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右：AI 初筛与帧证据 + 四项复核清单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四项清单：合规、质量、相关性、版权与隐私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每帧可单独清除（误报）或标记（确认风险）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通过 → 入接力池；驳回 → 原因反馈给交棒者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复核记录带审核员、时间、意见与帧数</a:t>
            </a:r>
          </a:p>
        </p:txBody>
      </p:sp>
      <p:sp>
        <p:nvSpPr>
          <p:cNvPr id="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09 / 18</a:t>
            </a:r>
          </a:p>
        </p:txBody>
      </p:sp>
      <p:sp>
        <p:nvSpPr>
          <p:cNvPr id="10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r>
              <a:t>五条工作流：真实执行与节点轨迹</a:t>
            </a:r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900000" y="1950000"/>
          <a:ext cx="10300000" cy="252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工作流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触发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节点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学习计划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目标输入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目标理解 → 拆解 → 排期 → 提醒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预约履约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确认预约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约束 → 匹配 → 锁座 → 导航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学习辅导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签到 / 卡住了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签到 → 计时 → 辅导 → 推荐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接棒推送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结束 / 到期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事件 → 检索 → 排序 → 推送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交棒审核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上传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上传 → 抽帧 → 初筛 → 复核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1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10 / 18</a:t>
            </a:r>
          </a:p>
        </p:txBody>
      </p:sp>
      <p:sp>
        <p:nvSpPr>
          <p:cNvPr id="11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4360" y="55321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Microsoft YaHei"/>
              </a:defRPr>
            </a:pPr>
            <a:r>
              <a:t>编排不是展示页：预约、结束、交棒上传会真实执行节点；页面只回放 run/step 的输入、输出、耗时与失败原因。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界面：一屏帧级复核</a:t>
            </a:r>
          </a:p>
        </p:txBody>
      </p:sp>
      <p:sp>
        <p:nvSpPr>
          <p:cNvPr id="11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6F68"/>
                </a:solidFill>
                <a:latin typeface="Microsoft YaHei"/>
                <a:ea typeface="Microsoft YaHei"/>
              </a:rPr>
              <a:t>帧级复核：视频、帧时间轴、AI 证据与四项清单（实机界面）</a:t>
            </a:r>
          </a:p>
        </p:txBody>
      </p:sp>
      <p:sp>
        <p:nvSpPr>
          <p:cNvPr id="1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11 / 18</a:t>
            </a:r>
          </a:p>
        </p:txBody>
      </p:sp>
      <p:pic>
        <p:nvPicPr>
          <p:cNvPr id="120" name="Slide image" descr="帧级复核工作台：视频、帧时间轴、AI 证据、四项清单"/>
          <p:cNvPicPr>
            <a:picLocks noChangeAspect="1"/>
          </p:cNvPicPr>
          <p:nvPr/>
        </p:nvPicPr>
        <p:blipFill>
          <a:blip r:embed="rId3"/>
          <a:srcRect t="548" b="548"/>
          <a:stretch>
            <a:fillRect/>
          </a:stretch>
        </p:blipFill>
        <p:spPr>
          <a:xfrm>
            <a:off x="777240" y="1691640"/>
            <a:ext cx="10607040" cy="4069080"/>
          </a:xfrm>
          <a:prstGeom prst="rect">
            <a:avLst/>
          </a:prstGeom>
        </p:spPr>
      </p:pic>
      <p:sp>
        <p:nvSpPr>
          <p:cNvPr id="121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创新性：AI 用在判断链的哪一环</a:t>
            </a:r>
          </a:p>
        </p:txBody>
      </p:sp>
      <p:sp>
        <p:nvSpPr>
          <p:cNvPr id="1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结束即服务：结束/到期按场次上下文匹配内容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帧级证据链：AI 只标疑点，人逐帧清除/标记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一屏复核：视频 + 时间轴 + AI 理由 + 清单同屏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反馈加权：有帮助/没帮助直接改变下次排序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AI 可选可降级：多供应商热切换，失败回退规则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工作流可回放：五条流每节点落库可展开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1F2A3A"/>
                </a:solidFill>
                <a:latin typeface="Microsoft YaHei"/>
                <a:ea typeface="Microsoft YaHei"/>
              </a:rPr>
              <a:t>双端同源：Web 与鸿蒙共用一套 Flask API</a:t>
            </a:r>
          </a:p>
        </p:txBody>
      </p:sp>
      <p:sp>
        <p:nvSpPr>
          <p:cNvPr id="1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12 / 18</a:t>
            </a:r>
          </a:p>
        </p:txBody>
      </p:sp>
      <p:sp>
        <p:nvSpPr>
          <p:cNvPr id="13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数据集：选取与处理</a:t>
            </a:r>
          </a:p>
        </p:txBody>
      </p:sp>
      <p:graphicFrame>
        <p:nvGraphicFramePr>
          <p:cNvPr id="133" name="Table"/>
          <p:cNvGraphicFramePr>
            <a:graphicFrameLocks noGrp="1"/>
          </p:cNvGraphicFramePr>
          <p:nvPr/>
        </p:nvGraphicFramePr>
        <p:xfrm>
          <a:off x="900000" y="1950000"/>
          <a:ext cx="10300000" cy="2940000"/>
        </p:xfrm>
        <a:graphic>
          <a:graphicData uri="http://schemas.openxmlformats.org/drawingml/2006/table">
            <a:tbl>
              <a:tblPr firstRow="1" bandRow="1"/>
              <a:tblGrid>
                <a:gridCol w="2575000"/>
                <a:gridCol w="2575000"/>
                <a:gridCol w="2575000"/>
                <a:gridCol w="2575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来源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座位 / 楼层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seed 生成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按 floor_id 生成坐标与路网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3 层 79 座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教学视频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交棒上传 / seed 合成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均匀抽帧，JPEG 质量 88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5 条 × 8 帧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帧级特征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抽帧图像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红/亮/对比/模糊/暗部/关键词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每帧 6 维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学习行为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现场操作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预约/签到/结束/反馈落表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17 张表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复核记录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人工复核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四项清单 + 帧级状态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帧级可追溯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推送记录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排序 + AI 重排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规则分 + 反馈系数 + 理由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场次级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1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13 / 18</a:t>
            </a:r>
          </a:p>
        </p:txBody>
      </p:sp>
      <p:sp>
        <p:nvSpPr>
          <p:cNvPr id="14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94360" y="5806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Microsoft YaHei"/>
              </a:defRPr>
            </a:pPr>
            <a:r>
              <a:t>真实视频样例：MDN CC0 flower.mp4（5 秒）→ 5 帧 → 2 帧可疑 → 人工复核通过；证据见 docs/evidence/real-video-test.md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关键代码片段：三处硬约束</a:t>
            </a:r>
          </a:p>
        </p:txBody>
      </p:sp>
      <p:sp>
        <p:nvSpPr>
          <p:cNvPr id="14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6F68"/>
                </a:solidFill>
                <a:latin typeface="Microsoft YaHei"/>
                <a:ea typeface="Microsoft YaHei"/>
              </a:rPr>
              <a:t>关键代码：抢座事务 / 接棒幂等 / 四维 base × 反馈系数</a:t>
            </a:r>
          </a:p>
        </p:txBody>
      </p:sp>
      <p:sp>
        <p:nvSpPr>
          <p:cNvPr id="1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14 / 18</a:t>
            </a:r>
          </a:p>
        </p:txBody>
      </p:sp>
      <p:pic>
        <p:nvPicPr>
          <p:cNvPr id="150" name="Slide image" descr="关键代码：抢座事务、接棒幂等、四维打分 × 反馈系数"/>
          <p:cNvPicPr>
            <a:picLocks noChangeAspect="1"/>
          </p:cNvPicPr>
          <p:nvPr/>
        </p:nvPicPr>
        <p:blipFill>
          <a:blip r:embed="rId3"/>
          <a:srcRect t="548" b="548"/>
          <a:stretch>
            <a:fillRect/>
          </a:stretch>
        </p:blipFill>
        <p:spPr>
          <a:xfrm>
            <a:off x="777240" y="1691640"/>
            <a:ext cx="10607040" cy="4069080"/>
          </a:xfrm>
          <a:prstGeom prst="rect">
            <a:avLst/>
          </a:prstGeom>
        </p:spPr>
      </p:pic>
      <p:sp>
        <p:nvSpPr>
          <p:cNvPr id="151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可量化效果：实测指标</a:t>
            </a:r>
          </a:p>
        </p:txBody>
      </p:sp>
      <p:graphicFrame>
        <p:nvGraphicFramePr>
          <p:cNvPr id="153" name="Table"/>
          <p:cNvGraphicFramePr>
            <a:graphicFrameLocks noGrp="1"/>
          </p:cNvGraphicFramePr>
          <p:nvPr/>
        </p:nvGraphicFramePr>
        <p:xfrm>
          <a:off x="900000" y="1950000"/>
          <a:ext cx="10300000" cy="336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目标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当前实测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座位规模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多建筑多楼层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2 建筑 3 层 79 座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抢座并发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同座不超卖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锁 + 事务验证通过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抽帧 + 初筛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≤ 8 秒/条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约 1–2 秒（9 秒视频）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接棒触发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≤ 3 秒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1 秒内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AI 层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可接、可降级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供应商热生效；无 Key 走规则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室外导航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距离 / 方向 / 时间可用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269 米 / 4 分钟；高德 + SVG 兜底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自动化测试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全绿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90 passed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1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15 / 18</a:t>
            </a:r>
          </a:p>
        </p:txBody>
      </p:sp>
      <p:sp>
        <p:nvSpPr>
          <p:cNvPr id="16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94360" y="5806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Microsoft YaHei"/>
              </a:defRPr>
            </a:pPr>
            <a:r>
              <a:t>真实视频流水线：5 秒视频 → 5 帧，2 帧可疑 → 人工复核通过；当前回归 90 passed。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华为云：CodeArts 五环节证据</a:t>
            </a:r>
          </a:p>
        </p:txBody>
      </p:sp>
      <p:graphicFrame>
        <p:nvGraphicFramePr>
          <p:cNvPr id="163" name="Table"/>
          <p:cNvGraphicFramePr>
            <a:graphicFrameLocks noGrp="1"/>
          </p:cNvGraphicFramePr>
          <p:nvPr/>
        </p:nvGraphicFramePr>
        <p:xfrm>
          <a:off x="900000" y="1950000"/>
          <a:ext cx="10300000" cy="252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91440" marR="91440" anchor="ctr">
                    <a:solidFill>
                      <a:srgbClr val="0F2A4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需求理解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01-需求理解.json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数据流、权重、AI 回退点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代码生成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02-代码生成.json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新增 /api/health + 测试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项目构建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03-项目构建.json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pytest 全绿（90 passed）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问题修复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04-问题修复.json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接棒并发修复 + 幂等测试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部署上线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1F2A3A"/>
                          </a:solidFill>
                          <a:latin typeface="Microsoft YaHei"/>
                          <a:ea typeface="Microsoft YaHei"/>
                        </a:rPr>
                        <a:t>05-部署上线.json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Dockerfile 检查；待补公网部署证据（URL/截图/健康检查）</a:t>
                      </a:r>
                    </a:p>
                  </a:txBody>
                  <a:tcPr marL="91440" marR="91440" anchor="ctr">
                    <a:solidFill>
                      <a:srgbClr val="FFF2DE"/>
                    </a:solidFill>
                  </a:tcPr>
                </a:tc>
              </a:tr>
            </a:tbl>
          </a:graphicData>
        </a:graphic>
      </p:graphicFrame>
      <p:sp>
        <p:nvSpPr>
          <p:cNvPr id="1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16 / 18</a:t>
            </a:r>
          </a:p>
        </p:txBody>
      </p:sp>
      <p:sp>
        <p:nvSpPr>
          <p:cNvPr id="17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1F2A3A"/>
                </a:solidFill>
                <a:latin typeface="Microsoft YaHei"/>
                <a:ea typeface="Microsoft YaHei"/>
              </a:rPr>
              <a:t>双端：Web 是作品，鸿蒙是现场端</a:t>
            </a:r>
          </a:p>
        </p:txBody>
      </p:sp>
      <p:sp>
        <p:nvSpPr>
          <p:cNvPr id="17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6F68"/>
                </a:solidFill>
                <a:latin typeface="Microsoft YaHei"/>
                <a:ea typeface="Microsoft YaHei"/>
              </a:rPr>
              <a:t>鸿蒙 App（ArkUI）：今日 / 空间 / 学习 / 接力池，与 Web 共用同一套 API</a:t>
            </a:r>
          </a:p>
        </p:txBody>
      </p:sp>
      <p:sp>
        <p:nvSpPr>
          <p:cNvPr id="1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17 / 18</a:t>
            </a:r>
          </a:p>
        </p:txBody>
      </p:sp>
      <p:pic>
        <p:nvPicPr>
          <p:cNvPr id="180" name="Slide image" descr="鸿蒙 App 四屏：今日、空间、学习、接力池"/>
          <p:cNvPicPr>
            <a:picLocks noChangeAspect="1"/>
          </p:cNvPicPr>
          <p:nvPr/>
        </p:nvPicPr>
        <p:blipFill>
          <a:blip r:embed="rId3"/>
          <a:srcRect t="548" b="548"/>
          <a:stretch>
            <a:fillRect/>
          </a:stretch>
        </p:blipFill>
        <p:spPr>
          <a:xfrm>
            <a:off x="777240" y="1691640"/>
            <a:ext cx="10607040" cy="4069080"/>
          </a:xfrm>
          <a:prstGeom prst="rect">
            <a:avLst/>
          </a:prstGeom>
        </p:spPr>
      </p:pic>
      <p:sp>
        <p:nvSpPr>
          <p:cNvPr id="181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"/>
          <p:cNvSpPr txBox="1"/>
          <p:nvPr/>
        </p:nvSpPr>
        <p:spPr>
          <a:xfrm>
            <a:off x="1050000" y="2300000"/>
            <a:ext cx="10200000" cy="1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5200" b="1" dirty="0">
                <a:solidFill>
                  <a:srgbClr val="1F2A3A"/>
                </a:solidFill>
                <a:latin typeface="Microsoft YaHei"/>
                <a:ea typeface="Microsoft YaHei"/>
              </a:rPr>
              <a:t>现场演示</a:t>
            </a:r>
          </a:p>
        </p:txBody>
      </p:sp>
      <p:sp>
        <p:nvSpPr>
          <p:cNvPr id="182" name="Subtitle"/>
          <p:cNvSpPr txBox="1"/>
          <p:nvPr/>
        </p:nvSpPr>
        <p:spPr>
          <a:xfrm>
            <a:off x="1050000" y="4200000"/>
            <a:ext cx="10200000" cy="9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r>
              <a:t>https://xide.example.com（待替换为公网域名） ｜ student / reviewer / admin / teacher，密码 123456</a:t>
            </a:r>
          </a:p>
        </p:txBody>
      </p:sp>
      <p:sp>
        <p:nvSpPr>
          <p:cNvPr id="1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6F68"/>
                </a:solidFill>
                <a:latin typeface="Microsoft YaHei"/>
                <a:ea typeface="Microsoft YaHei"/>
              </a:rPr>
              <a:t>18 / 18</a:t>
            </a:r>
          </a:p>
        </p:txBody>
      </p:sp>
      <p:sp>
        <p:nvSpPr>
          <p:cNvPr id="19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t>习得 KeepLit · 从落座到学会 ｜ 华为 ICT 学科竞赛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theme/theme1.xml><?xml version="1.0" encoding="utf-8"?>
<a:theme xmlns:a="http://schemas.openxmlformats.org/drawingml/2006/main" name="dsh-ppt Soft Signal">
  <a:themeElements>
    <a:clrScheme name="dsh-ppt">
      <a:dk1>
        <a:srgbClr val="1F2A3A"/>
      </a:dk1>
      <a:lt1>
        <a:srgbClr val="FFFFFF"/>
      </a:lt1>
      <a:dk2>
        <a:srgbClr val="7E6F68"/>
      </a:dk2>
      <a:lt2>
        <a:srgbClr val="FFF2DE"/>
      </a:lt2>
      <a:accent1>
        <a:srgbClr val="0F2A4A"/>
      </a:accent1>
      <a:accent2>
        <a:srgbClr val="8FAF8C"/>
      </a:accent2>
      <a:accent3>
        <a:srgbClr val="1F2A3A"/>
      </a:accent3>
      <a:accent4>
        <a:srgbClr val="7E6F68"/>
      </a:accent4>
      <a:accent5>
        <a:srgbClr val="0F2A4A"/>
      </a:accent5>
      <a:accent6>
        <a:srgbClr val="8FAF8C"/>
      </a:accent6>
      <a:hlink>
        <a:srgbClr val="0F2A4A"/>
      </a:hlink>
      <a:folHlink>
        <a:srgbClr val="8FAF8C"/>
      </a:folHlink>
    </a:clrScheme>
    <a:fontScheme name="dsh-ppt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</Application>
  <PresentationFormat>Widescreen</PresentationFormat>
  <Slides>18</Slides>
  <Notes>18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习得 · 校园学习空间</dc:title>
  <dc:creator>dsh-ppt</dc:creator>
  <cp:lastModifiedBy>dsh-ppt</cp:lastModifiedBy>
</cp:coreProperties>
</file>